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599"/>
  </p:normalViewPr>
  <p:slideViewPr>
    <p:cSldViewPr snapToGrid="0">
      <p:cViewPr>
        <p:scale>
          <a:sx n="96" d="100"/>
          <a:sy n="96" d="100"/>
        </p:scale>
        <p:origin x="106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141F-4FE9-24E9-7C77-761A87517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BB7AB6-D3BF-59B2-2ADB-70FD03459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53FDC-22E8-D148-C229-BADF8BA6C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BA089-B691-394B-9145-5DBC24E0F5A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EA1F2-F540-B23A-D735-AED0A5D9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3C867-6468-0E48-7EB4-F36AFAAFF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538FD-38A7-3448-BD5D-6EED93A6F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3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C9B3F-94B0-AA26-FBF4-88F44868E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6A666-9B89-EEBE-7A13-2CC523F47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DFE3E-B386-694E-E038-6C65096FD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BA089-B691-394B-9145-5DBC24E0F5A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8A00F-9747-DFB4-C80F-B140B656F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4F38A-6C64-1BE8-A5BC-C4A456546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538FD-38A7-3448-BD5D-6EED93A6F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562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DC2C9-351E-9643-7C8B-911D3B7F2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7AB54-CE2A-79F4-55EE-2A036FBBB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5D448-A51F-4BDC-6565-1C257BA40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BA089-B691-394B-9145-5DBC24E0F5A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4ACF6-4340-9AF8-0A3C-4C9821A39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FC6A7-12A5-2488-ED09-852AD5794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538FD-38A7-3448-BD5D-6EED93A6F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415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6445F-8299-5FB7-7BC5-46AAB3C9D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5AFF4-22DA-5339-5E6B-86FF7077E7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4B66B4-36A7-14AF-6CFA-9CDA501D5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22395-62D8-2B72-A1F2-B22F6D2B1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BA089-B691-394B-9145-5DBC24E0F5A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23600B-A150-A2EB-C1E3-3A30E45C9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9646E-B308-64EB-106B-28AAB1802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538FD-38A7-3448-BD5D-6EED93A6F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8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8D9A4-605F-ECFA-A111-2EE5C1D75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1E829-9DF7-C518-95A1-BCD85F684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B5217-EDA0-8C6A-C5D8-85E25DFBA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E2ECD5-A554-74AF-2BBA-3265ECD67B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A0BDF6-256D-4E12-215D-A57BB26025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25FCB8-BF6E-A376-E3C5-05E98B28C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BA089-B691-394B-9145-5DBC24E0F5A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D9DF0C-0E7A-E1EF-9249-815E9304E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AE587E-5E34-48CA-6FF1-7F776F503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538FD-38A7-3448-BD5D-6EED93A6F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47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3909C-34DC-4BD1-F166-676C20A2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8591-4E1A-95B6-F574-86FF1AAB3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BA089-B691-394B-9145-5DBC24E0F5A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34254C-3CDB-A8C6-067F-A6A8D107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F67640-E311-9897-B4E6-4C5DD92EC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538FD-38A7-3448-BD5D-6EED93A6F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07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168D97-53BB-704D-2004-4AC220556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BA089-B691-394B-9145-5DBC24E0F5A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76DE59-8895-4033-3F7D-24AFB62BC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2CA46-B3C5-6C70-7402-367B4807E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538FD-38A7-3448-BD5D-6EED93A6F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30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CBD7C-EC15-1DC6-B666-B80CD8B65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94BE3-DAA9-5FAA-50C1-CDDC54B37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55CF96-0E8C-7D77-3A94-1CA34D141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A2D441-366D-60A9-5FDC-F8F81C8EC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BA089-B691-394B-9145-5DBC24E0F5A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62F1C-BEC4-CEFD-3E71-FE61F8CD6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7E0B9-8CE5-96B0-0F1D-FDFE34C08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538FD-38A7-3448-BD5D-6EED93A6F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13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08813-AE36-C909-E96F-BF82AA370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14D16F-C18B-A211-95B5-54FC8FEB5E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20DF61-AF2F-7072-2C7D-C227932C6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EADD6-9E1C-350E-9A90-C7BFF9D73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BA089-B691-394B-9145-5DBC24E0F5A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35562-CEB3-FE5A-A0C1-A8A416920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E612E-417D-B62D-6259-01EC641B6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538FD-38A7-3448-BD5D-6EED93A6F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488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41C1A-CACF-94F3-8260-72011E0F0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B65276-9B71-E96D-E682-FEF67F675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D696A-0F07-33DC-8C24-A00001C80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BA089-B691-394B-9145-5DBC24E0F5A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7B294-6E9E-8A53-0488-9F2B4A7DD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C0AC6-2E14-DDAB-616C-4890409E9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538FD-38A7-3448-BD5D-6EED93A6F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98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E10048-88D9-3E18-B8C5-6A8884B3CE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662791-6407-725B-9232-C4C1B06C0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3B961-ABCF-8286-08B0-2F0A92FC1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BA089-B691-394B-9145-5DBC24E0F5A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038F-1939-23FF-696B-E07A85C4C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7FB9E-82EB-D29A-ABA2-6F9AB7A39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538FD-38A7-3448-BD5D-6EED93A6F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90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D96501-AA29-2123-7D82-334FF62E2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AE56C-0C8F-165B-EAE2-136CA2258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C06CE-4C09-1B13-5824-2D16C3D55A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9BA089-B691-394B-9145-5DBC24E0F5A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01C3B-8930-0CBC-456A-58E1FA6E4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06868-040A-4CD9-A8A6-0E7A6ECF1F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9538FD-38A7-3448-BD5D-6EED93A6F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19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38BE4-13F6-26CB-09DE-BDD3B1BB4B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1328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Occupation Segmentation Insights: Customer Value, Membership Maturity, and Regional Opportunity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546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CB340-05B2-64C9-E747-5A3C44F9C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000" b="1"/>
              <a:t>Chart 1: Sales per Active Customer by Occupation</a:t>
            </a:r>
            <a:endParaRPr lang="en-US" sz="3000"/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41786-1514-CBDC-526A-79BADF8C9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000" dirty="0"/>
              <a:t>Skilled Manual has the highest sales per active customer, indicating the strongest per-customer spending value among all occupation groups.</a:t>
            </a:r>
          </a:p>
          <a:p>
            <a:r>
              <a:rPr lang="en-US" sz="2000" dirty="0"/>
              <a:t>Clerical ranks lowest on sales per active customer and has a relatively small customer base, making it a lower-priority segment.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Picture 3" descr="A graph of sales&#10;&#10;AI-generated content may be incorrect.">
            <a:extLst>
              <a:ext uri="{FF2B5EF4-FFF2-40B4-BE49-F238E27FC236}">
                <a16:creationId xmlns:a16="http://schemas.microsoft.com/office/drawing/2014/main" id="{28EC5825-5EC7-853E-46BE-16B4482F5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254329"/>
            <a:ext cx="6903720" cy="434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140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B13CC0-D186-2DE3-8C4D-1664C8C6F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400" b="1"/>
              <a:t>Chart 2: Member Card Mix by Occupation</a:t>
            </a:r>
            <a:endParaRPr lang="en-US" sz="3400"/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7E216-878C-DD5B-DD18-71594A6B3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1400" dirty="0"/>
              <a:t>Clerical and Management have a higher share of Golden and Silver members, suggesting a more mature and established high-value customer base.</a:t>
            </a:r>
          </a:p>
          <a:p>
            <a:r>
              <a:rPr lang="en-US" sz="1400" dirty="0"/>
              <a:t>Skilled Manual and Manual show a much larger share of Normal members, which suggests stronger upside for membership upgrade and conversion.</a:t>
            </a:r>
          </a:p>
          <a:p>
            <a:r>
              <a:rPr lang="en-US" sz="1400" dirty="0"/>
              <a:t>Across most occupation groups, Bronze still dominates, indicating that the overall membership base still has room to move upward.</a:t>
            </a:r>
          </a:p>
          <a:p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FDD58-D658-A487-7BAE-28855E1F0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409663"/>
            <a:ext cx="6903720" cy="403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251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16A259-E74F-CDFF-D8FC-B0296368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3000" b="1"/>
              <a:t>Chart 3: Occupation x Region Heatmap (Sales per Active Customer)</a:t>
            </a:r>
            <a:endParaRPr lang="en-US" sz="3000"/>
          </a:p>
        </p:txBody>
      </p:sp>
      <p:sp>
        <p:nvSpPr>
          <p:cNvPr id="4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434FF-5B3A-475D-8680-7E8AB8F7C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dirty="0"/>
              <a:t>Mexico Central and Mexico South show the highest sales per active customer across occupations, indicating stronger customer value density in those regions.</a:t>
            </a:r>
          </a:p>
          <a:p>
            <a:r>
              <a:rPr lang="en-US" sz="2200" dirty="0"/>
              <a:t>Central West is consistently weaker across occupations, suggesting lower near-term commercial priority.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4" name="Picture 3" descr="A graph of sales and a region&#10;&#10;AI-generated content may be incorrect.">
            <a:extLst>
              <a:ext uri="{FF2B5EF4-FFF2-40B4-BE49-F238E27FC236}">
                <a16:creationId xmlns:a16="http://schemas.microsoft.com/office/drawing/2014/main" id="{EB26B5AD-1BA7-88C8-F75A-4F53C28099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75" r="26477" b="-1"/>
          <a:stretch>
            <a:fillRect/>
          </a:stretch>
        </p:blipFill>
        <p:spPr>
          <a:xfrm>
            <a:off x="6145437" y="640080"/>
            <a:ext cx="536619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621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108DD-C32B-59CE-BB43-0814B40F2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Insight Takeaway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C4D17-D346-D760-DA04-4FD41D060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Professional is the core scale segment, Skilled Manual is the highest-potential growth segment, Management is a mature high-quality segment, and Mexico </a:t>
            </a:r>
            <a:r>
              <a:rPr lang="en-US"/>
              <a:t>South and Central </a:t>
            </a:r>
            <a:r>
              <a:rPr lang="en-US" dirty="0"/>
              <a:t>is the most actionable high-value region.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109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229</Words>
  <Application>Microsoft Macintosh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Occupation Segmentation Insights: Customer Value, Membership Maturity, and Regional Opportunity</vt:lpstr>
      <vt:lpstr>Chart 1: Sales per Active Customer by Occupation</vt:lpstr>
      <vt:lpstr>Chart 2: Member Card Mix by Occupation</vt:lpstr>
      <vt:lpstr>Chart 3: Occupation x Region Heatmap (Sales per Active Customer)</vt:lpstr>
      <vt:lpstr>Business Insight Takeaway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MENGHAN TIAN</dc:creator>
  <cp:lastModifiedBy>MENGHAN TIAN</cp:lastModifiedBy>
  <cp:revision>1</cp:revision>
  <dcterms:created xsi:type="dcterms:W3CDTF">2026-04-12T18:25:30Z</dcterms:created>
  <dcterms:modified xsi:type="dcterms:W3CDTF">2026-04-12T18:38:55Z</dcterms:modified>
</cp:coreProperties>
</file>